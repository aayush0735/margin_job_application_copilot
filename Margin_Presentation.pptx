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54864" cy="685800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43891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F7F4ED"/>
                </a:solidFill>
                <a:latin typeface="Georgia"/>
              </a:rPr>
              <a:t>MARGIN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017520"/>
            <a:ext cx="4389120" cy="3175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200400"/>
            <a:ext cx="4389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1">
                <a:solidFill>
                  <a:srgbClr val="EFDFC8"/>
                </a:solidFill>
                <a:latin typeface="Georgia"/>
              </a:rPr>
              <a:t>Your application,
marked up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5720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9A958A"/>
                </a:solidFill>
                <a:latin typeface="Calibri"/>
              </a:rPr>
              <a:t>Multi-Agent AI Job Application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98348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6B665C"/>
                </a:solidFill>
                <a:latin typeface="Courier New"/>
              </a:rPr>
              <a:t>FastAPI  ·  Groq LLM  ·  Vanilla 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463040"/>
            <a:ext cx="57607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1463040"/>
            <a:ext cx="5760720" cy="365760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481328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C5A52"/>
                </a:solidFill>
                <a:latin typeface="Courier New"/>
              </a:rPr>
              <a:t>resume_final.pdf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1536192"/>
            <a:ext cx="822960" cy="219456"/>
          </a:xfrm>
          <a:prstGeom prst="rect">
            <a:avLst/>
          </a:prstGeom>
          <a:solidFill>
            <a:srgbClr val="DEE8DD"/>
          </a:solidFill>
          <a:ln w="9525">
            <a:solidFill>
              <a:srgbClr val="3D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24744" y="1527048"/>
            <a:ext cx="804672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1" i="0">
                <a:solidFill>
                  <a:srgbClr val="3D6B4F"/>
                </a:solidFill>
                <a:latin typeface="Courier New"/>
              </a:rPr>
              <a:t>MATCH 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965960"/>
            <a:ext cx="4507992" cy="164592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2240280"/>
            <a:ext cx="3712463" cy="164592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2514600"/>
            <a:ext cx="4773168" cy="164592"/>
          </a:xfrm>
          <a:prstGeom prst="rect">
            <a:avLst/>
          </a:prstGeom>
          <a:solidFill>
            <a:srgbClr val="EFD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2788920"/>
            <a:ext cx="3182112" cy="164592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063240"/>
            <a:ext cx="4136745" cy="164592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3337560"/>
            <a:ext cx="2651760" cy="164592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2752344"/>
            <a:ext cx="3394676167200" cy="1905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95728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C1432B"/>
                </a:solidFill>
                <a:latin typeface="Segoe Script"/>
              </a:rPr>
              <a:t>→ quantify this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B0AC9F"/>
                </a:solidFill>
                <a:latin typeface="Courier New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3175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217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C5A52"/>
                </a:solidFill>
                <a:latin typeface="Courier New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 i="0">
                <a:solidFill>
                  <a:srgbClr val="1A1D17"/>
                </a:solidFill>
                <a:latin typeface="Georgia"/>
              </a:rPr>
              <a:t>The job search is broken for applicants.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>
                <a:solidFill>
                  <a:srgbClr val="5C5A52"/>
                </a:solidFill>
                <a:latin typeface="Calibri"/>
              </a:rPr>
              <a:t>—  75% of resumes are rejected by ATS before a human reads them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5C5A52"/>
                </a:solidFill>
                <a:latin typeface="Calibri"/>
              </a:rPr>
              <a:t>—  Candidates spend 3–4 hours tailoring each application manually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5C5A52"/>
                </a:solidFill>
                <a:latin typeface="Calibri"/>
              </a:rPr>
              <a:t>—  Generic cover letters are ignored by hiring managers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5C5A52"/>
                </a:solidFill>
                <a:latin typeface="Calibri"/>
              </a:rPr>
              <a:t>—  No structured way to prepare for role-specific interviews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50" b="0">
                <a:solidFill>
                  <a:srgbClr val="5C5A52"/>
                </a:solidFill>
                <a:latin typeface="Calibri"/>
              </a:rPr>
              <a:t>·  Same resume sent to dozens of different roles — poor keyword match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5C5A52"/>
                </a:solidFill>
                <a:latin typeface="Calibri"/>
              </a:rPr>
              <a:t>·  No visibility into which skills are missing vs. what the JD asks for</a:t>
            </a:r>
          </a:p>
          <a:p>
            <a:pPr algn="l">
              <a:spcBef>
                <a:spcPts val="400"/>
              </a:spcBef>
            </a:pPr>
            <a:r>
              <a:rPr sz="1350" b="0">
                <a:solidFill>
                  <a:srgbClr val="5C5A52"/>
                </a:solidFill>
                <a:latin typeface="Calibri"/>
              </a:rPr>
              <a:t>·  High anxiety, low feedback loop — applicants don't know why they fail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EFDFC8"/>
          </a:solidFill>
          <a:ln w="9525">
            <a:solidFill>
              <a:srgbClr val="C1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46811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1">
                <a:solidFill>
                  <a:srgbClr val="1A1D17"/>
                </a:solidFill>
                <a:latin typeface="Georgia"/>
              </a:rPr>
              <a:t>Only 2% of applicants who send a resume make it to interview. The rest fail the filter — not the person.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B0AC9F"/>
                </a:solidFill>
                <a:latin typeface="Courier New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3175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217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C5A52"/>
                </a:solidFill>
                <a:latin typeface="Courier New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7772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0" i="0">
                <a:solidFill>
                  <a:srgbClr val="1A1D17"/>
                </a:solidFill>
                <a:latin typeface="Georgia"/>
              </a:rPr>
              <a:t>Margin — an AI pipeline that marks up
your application like a sharp editor.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423160"/>
            <a:ext cx="11064240" cy="12700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60604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606040"/>
            <a:ext cx="2651760" cy="54864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C1432B"/>
                </a:solidFill>
                <a:latin typeface="Courier New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D17"/>
                </a:solidFill>
                <a:latin typeface="Georgia"/>
              </a:rPr>
              <a:t>Fit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23774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ATS match score, skill gaps, missing keywords — in 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60604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606040"/>
            <a:ext cx="2651760" cy="54864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C1432B"/>
                </a:solidFill>
                <a:latin typeface="Courier New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00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D17"/>
                </a:solidFill>
                <a:latin typeface="Georgia"/>
              </a:rPr>
              <a:t>Resume Rewrite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749039"/>
            <a:ext cx="23774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Tailored bullet points with JD-specific keywords woven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260604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606040"/>
            <a:ext cx="2651760" cy="54864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74320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C1432B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200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D17"/>
                </a:solidFill>
                <a:latin typeface="Georgia"/>
              </a:rPr>
              <a:t>Cover 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49039"/>
            <a:ext cx="23774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1-page, tone-matched, downloaded as .docx — ready to send.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606040"/>
            <a:ext cx="26517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2606040"/>
            <a:ext cx="2651760" cy="54864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2743200"/>
            <a:ext cx="640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 i="0">
                <a:solidFill>
                  <a:srgbClr val="C1432B"/>
                </a:solidFill>
                <a:latin typeface="Courier Ne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2004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D17"/>
                </a:solidFill>
                <a:latin typeface="Georgia"/>
              </a:rPr>
              <a:t>Interview Prep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749039"/>
            <a:ext cx="237744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10 predicted Q&amp;A pairs with STAR-method talking points.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 i="0">
                <a:solidFill>
                  <a:srgbClr val="5C5A52"/>
                </a:solidFill>
                <a:latin typeface="Courier New"/>
              </a:rPr>
              <a:t>All four agents run in under 2 minutes per application.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B0AC9F"/>
                </a:solidFill>
                <a:latin typeface="Courier New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3175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217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C5A52"/>
                </a:solidFill>
                <a:latin typeface="Courier New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64008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 i="0">
                <a:solidFill>
                  <a:srgbClr val="1A1D17"/>
                </a:solidFill>
                <a:latin typeface="Georgia"/>
              </a:rPr>
              <a:t>Multi-Agent Pipeline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2700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6583680" cy="777240"/>
          </a:xfrm>
          <a:prstGeom prst="rect">
            <a:avLst/>
          </a:prstGeom>
          <a:solidFill>
            <a:srgbClr val="DDD8CB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05840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1432B"/>
                </a:solidFill>
                <a:latin typeface="Courier New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65960"/>
            <a:ext cx="5212080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5C5A52"/>
                </a:solidFill>
                <a:latin typeface="Calibri"/>
              </a:rPr>
              <a:t>Resume PDF + Job Description URL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697480"/>
            <a:ext cx="18288" cy="137160"/>
          </a:xfrm>
          <a:prstGeom prst="rect">
            <a:avLst/>
          </a:prstGeom>
          <a:solidFill>
            <a:srgbClr val="5C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62072"/>
            <a:ext cx="6583680" cy="777240"/>
          </a:xfrm>
          <a:prstGeom prst="rect">
            <a:avLst/>
          </a:prstGeom>
          <a:solidFill>
            <a:srgbClr val="EFDFC8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1005840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1432B"/>
                </a:solidFill>
                <a:latin typeface="Courier New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07792"/>
            <a:ext cx="5212080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1A1D17"/>
                </a:solidFill>
                <a:latin typeface="Calibri"/>
              </a:rPr>
              <a:t>Agent 1: Fit Analyst — runs first, scores match, identifies gaps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3639312"/>
            <a:ext cx="18288" cy="137160"/>
          </a:xfrm>
          <a:prstGeom prst="rect">
            <a:avLst/>
          </a:prstGeom>
          <a:solidFill>
            <a:srgbClr val="5C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803904"/>
            <a:ext cx="6583680" cy="960120"/>
          </a:xfrm>
          <a:prstGeom prst="rect">
            <a:avLst/>
          </a:prstGeom>
          <a:solidFill>
            <a:srgbClr val="DDD8CB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9624"/>
            <a:ext cx="1005840" cy="8869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1432B"/>
                </a:solidFill>
                <a:latin typeface="Courier New"/>
              </a:rP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849624"/>
            <a:ext cx="5212080" cy="8869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5C5A52"/>
                </a:solidFill>
                <a:latin typeface="Calibri"/>
              </a:rPr>
              <a:t>Agent 2: Resume Writer  |  Agent 3: Cover Letter  |  Agent 4: Interviewer
(all three run in parallel via asyncio.gather)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4764024"/>
            <a:ext cx="18288" cy="137160"/>
          </a:xfrm>
          <a:prstGeom prst="rect">
            <a:avLst/>
          </a:prstGeom>
          <a:solidFill>
            <a:srgbClr val="5C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28616"/>
            <a:ext cx="6583680" cy="777240"/>
          </a:xfrm>
          <a:prstGeom prst="rect">
            <a:avLst/>
          </a:prstGeom>
          <a:solidFill>
            <a:srgbClr val="DEE8D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974336"/>
            <a:ext cx="1005840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1432B"/>
                </a:solidFill>
                <a:latin typeface="Courier New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974336"/>
            <a:ext cx="5212080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3D6B4F"/>
                </a:solidFill>
                <a:latin typeface="Calibri"/>
              </a:rPr>
              <a:t>Draft persisted to SQLite — served to frontend via 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1874519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D17"/>
                </a:solidFill>
                <a:latin typeface="Georgia"/>
              </a:rPr>
              <a:t>System Details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2286000"/>
            <a:ext cx="4114800" cy="12700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42316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 b="0">
                <a:solidFill>
                  <a:srgbClr val="5C5A52"/>
                </a:solidFill>
                <a:latin typeface="Calibri"/>
              </a:rPr>
              <a:t>·  Orchestrator: hand-rolled coordinator — no LangChain dependency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C5A52"/>
                </a:solidFill>
                <a:latin typeface="Calibri"/>
              </a:rPr>
              <a:t>·  Fit Analyst output feeds all downstream agents as context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C5A52"/>
                </a:solidFill>
                <a:latin typeface="Calibri"/>
              </a:rPr>
              <a:t>·  Parallel execution: 3 agents run concurrently (asyncio)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C5A52"/>
                </a:solidFill>
                <a:latin typeface="Calibri"/>
              </a:rPr>
              <a:t>·  Each agent: structured prompt → JSON response → DB record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C5A52"/>
                </a:solidFill>
                <a:latin typeface="Calibri"/>
              </a:rPr>
              <a:t>·  Single-agent regeneration without re-running full pipeline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C5A52"/>
                </a:solidFill>
                <a:latin typeface="Calibri"/>
              </a:rPr>
              <a:t>·  JD scraper: requests + BeautifulSoup4 (LinkedIn, Glassdoor, etc.)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C5A52"/>
                </a:solidFill>
                <a:latin typeface="Calibri"/>
              </a:rPr>
              <a:t>·  Resume parsed via pypdf — raw text extracted, no OCR needed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5C5A52"/>
                </a:solidFill>
                <a:latin typeface="Calibri"/>
              </a:rPr>
              <a:t>·  DOCX export via python-docx for resume &amp; cover letter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B0AC9F"/>
                </a:solidFill>
                <a:latin typeface="Courier New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3175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217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C5A52"/>
                </a:solidFill>
                <a:latin typeface="Courier New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5486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 i="0">
                <a:solidFill>
                  <a:srgbClr val="1A1D17"/>
                </a:solidFill>
                <a:latin typeface="Georgia"/>
              </a:rPr>
              <a:t>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2700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3474720" cy="411480"/>
          </a:xfrm>
          <a:prstGeom prst="rect">
            <a:avLst/>
          </a:prstGeom>
          <a:solidFill>
            <a:srgbClr val="1A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7F4ED"/>
                </a:solidFill>
                <a:latin typeface="Calibri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3474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Vanilla HTML5 + CSS3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80360"/>
            <a:ext cx="3474720" cy="566928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ES6 Modules (no bundler)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74720"/>
            <a:ext cx="3474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Fraunces + Public Sans fonts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69080"/>
            <a:ext cx="3474720" cy="566928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605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Warm editorial design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63440"/>
            <a:ext cx="3474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75488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Dark / light mode (localStorage)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257800"/>
            <a:ext cx="3474720" cy="566928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3492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Intersection Observer animations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874519"/>
            <a:ext cx="3474720" cy="411480"/>
          </a:xfrm>
          <a:prstGeom prst="rect">
            <a:avLst/>
          </a:prstGeom>
          <a:solidFill>
            <a:srgbClr val="1A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9202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7F4ED"/>
                </a:solidFill>
                <a:latin typeface="Calibri"/>
              </a:rPr>
              <a:t>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286000"/>
            <a:ext cx="3474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23774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FastAPI (Python 3.11+)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880360"/>
            <a:ext cx="3474720" cy="566928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97180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SQLAlchemy 2.0 + SQLite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474720"/>
            <a:ext cx="3474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356616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JWT auth (python-jose)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4069080"/>
            <a:ext cx="3474720" cy="566928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41605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bcrypt password hashing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4663440"/>
            <a:ext cx="3474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400" y="475488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pypdf — resume parsing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5257800"/>
            <a:ext cx="3474720" cy="566928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53492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python-docx — DOCX export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1874519"/>
            <a:ext cx="3474720" cy="411480"/>
          </a:xfrm>
          <a:prstGeom prst="rect">
            <a:avLst/>
          </a:prstGeom>
          <a:solidFill>
            <a:srgbClr val="1A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192024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7F4ED"/>
                </a:solidFill>
                <a:latin typeface="Calibri"/>
              </a:rPr>
              <a:t>AI &amp; Data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2286000"/>
            <a:ext cx="3474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23774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Groq API — llama-3.3-70b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2880360"/>
            <a:ext cx="3474720" cy="566928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297180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asyncio.gather — parallelism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18120" y="3474720"/>
            <a:ext cx="3474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01000" y="356616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Structured JSON prompts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4069080"/>
            <a:ext cx="3474720" cy="566928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416052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BeautifulSoup4 — JD scraper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4663440"/>
            <a:ext cx="3474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475488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REST API (15 endpoints)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8120" y="5257800"/>
            <a:ext cx="3474720" cy="566928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53492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5C5A52"/>
                </a:solidFill>
                <a:latin typeface="Calibri"/>
              </a:rPr>
              <a:t>Pydantic v2 schemas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080760"/>
            <a:ext cx="11155680" cy="548640"/>
          </a:xfrm>
          <a:prstGeom prst="rect">
            <a:avLst/>
          </a:prstGeom>
          <a:solidFill>
            <a:srgbClr val="EFDFC8"/>
          </a:solidFill>
          <a:ln w="9525">
            <a:solidFill>
              <a:srgbClr val="C14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612648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1">
                <a:solidFill>
                  <a:srgbClr val="1A1D17"/>
                </a:solidFill>
                <a:latin typeface="Calibri"/>
              </a:rPr>
              <a:t>Zero heavy dependencies in the AI pipeline — no LangChain, no LlamaIndex. Pure asyncio + structured prompting.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B0AC9F"/>
                </a:solidFill>
                <a:latin typeface="Courier New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3175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217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C5A52"/>
                </a:solidFill>
                <a:latin typeface="Courier New"/>
              </a:rPr>
              <a:t>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54864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 i="0">
                <a:solidFill>
                  <a:srgbClr val="1A1D17"/>
                </a:solidFill>
                <a:latin typeface="Georgia"/>
              </a:rPr>
              <a:t>What users 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2700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45720" cy="137160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2996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D17"/>
                </a:solidFill>
                <a:latin typeface="Georgia"/>
              </a:rPr>
              <a:t>ATS Fit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512064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5C5A52"/>
                </a:solidFill>
                <a:latin typeface="Calibri"/>
              </a:rPr>
              <a:t>Overall match percentage with matched skills, skill gaps, and
exact keywords missing from the resume — ranked by importance.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92024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920240"/>
            <a:ext cx="45720" cy="137160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2996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D17"/>
                </a:solidFill>
                <a:latin typeface="Georgia"/>
              </a:rPr>
              <a:t>Resume Rewrite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23160"/>
            <a:ext cx="512064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5C5A52"/>
                </a:solidFill>
                <a:latin typeface="Calibri"/>
              </a:rPr>
              <a:t>Side-by-side diff view (original vs. tailored). Each section
rewritten with JD keywords woven in. Downloadable as .docx.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7472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474720"/>
            <a:ext cx="45720" cy="137160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D17"/>
                </a:solidFill>
                <a:latin typeface="Georgia"/>
              </a:rPr>
              <a:t>Cover Letter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40"/>
            <a:ext cx="512064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5C5A52"/>
                </a:solidFill>
                <a:latin typeface="Calibri"/>
              </a:rPr>
              <a:t>Tone-matched, 1-page letter grounded in the applicant's real
experience. Connects projects to the company's stated needs.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47472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474720"/>
            <a:ext cx="45720" cy="137160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58444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D17"/>
                </a:solidFill>
                <a:latin typeface="Georgia"/>
              </a:rPr>
              <a:t>Interview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77640"/>
            <a:ext cx="512064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5C5A52"/>
                </a:solidFill>
                <a:latin typeface="Calibri"/>
              </a:rPr>
              <a:t>10 predicted questions (behavioural, technical, situational)
with STAR-method answers tailored to the specific role.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2920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29200"/>
            <a:ext cx="45720" cy="137160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3892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D17"/>
                </a:solidFill>
                <a:latin typeface="Georgia"/>
              </a:rPr>
              <a:t>JD Scraper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32120"/>
            <a:ext cx="512064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5C5A52"/>
                </a:solidFill>
                <a:latin typeface="Calibri"/>
              </a:rPr>
              <a:t>Paste a LinkedIn or job board URL — description is
extracted automatically. No manual copy-paste needed.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029200"/>
            <a:ext cx="5394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5029200"/>
            <a:ext cx="45720" cy="137160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138928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D17"/>
                </a:solidFill>
                <a:latin typeface="Georgia"/>
              </a:rPr>
              <a:t>Pipeline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532120"/>
            <a:ext cx="512064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5C5A52"/>
                </a:solidFill>
                <a:latin typeface="Calibri"/>
              </a:rPr>
              <a:t>Kanban-style role tracker: Not Applied → Applied →
Interviewing → Offered. Full application history per user.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B0AC9F"/>
                </a:solidFill>
                <a:latin typeface="Courier New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85800"/>
            <a:ext cx="320040" cy="3175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217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C5A52"/>
                </a:solidFill>
                <a:latin typeface="Courier New"/>
              </a:rPr>
              <a:t>API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68580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 i="0">
                <a:solidFill>
                  <a:srgbClr val="1A1D17"/>
                </a:solidFill>
                <a:latin typeface="Georgia"/>
              </a:rPr>
              <a:t>REST API &amp; 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64240" cy="12700"/>
          </a:xfrm>
          <a:prstGeom prst="rect">
            <a:avLst/>
          </a:prstGeom>
          <a:solidFill>
            <a:srgbClr val="DD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D17"/>
                </a:solidFill>
                <a:latin typeface="Calibri"/>
              </a:rPr>
              <a:t>Key API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5943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22576"/>
            <a:ext cx="548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1432B"/>
                </a:solidFill>
                <a:latin typeface="Courier New"/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22576"/>
            <a:ext cx="29260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D17"/>
                </a:solidFill>
                <a:latin typeface="Courier New"/>
              </a:rPr>
              <a:t>/api/auth/register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322576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C5A52"/>
                </a:solidFill>
                <a:latin typeface="Calibri"/>
              </a:rPr>
              <a:t>Create account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06624"/>
            <a:ext cx="5943600" cy="402336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548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1432B"/>
                </a:solidFill>
                <a:latin typeface="Courier New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43200"/>
            <a:ext cx="29260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D17"/>
                </a:solidFill>
                <a:latin typeface="Courier New"/>
              </a:rPr>
              <a:t>/api/auth/login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743200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C5A52"/>
                </a:solidFill>
                <a:latin typeface="Calibri"/>
              </a:rPr>
              <a:t>Login → JWT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27248"/>
            <a:ext cx="5943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548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3D6B4F"/>
                </a:solidFill>
                <a:latin typeface="Courier New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63824"/>
            <a:ext cx="29260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D17"/>
                </a:solidFill>
                <a:latin typeface="Courier New"/>
              </a:rPr>
              <a:t>/api/applications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163824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C5A52"/>
                </a:solidFill>
                <a:latin typeface="Calibri"/>
              </a:rPr>
              <a:t>List all applications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47872"/>
            <a:ext cx="5943600" cy="402336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584448"/>
            <a:ext cx="548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1432B"/>
                </a:solidFill>
                <a:latin typeface="Courier New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584448"/>
            <a:ext cx="29260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D17"/>
                </a:solidFill>
                <a:latin typeface="Courier New"/>
              </a:rPr>
              <a:t>/api/applications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584448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C5A52"/>
                </a:solidFill>
                <a:latin typeface="Calibri"/>
              </a:rPr>
              <a:t>Create application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968496"/>
            <a:ext cx="5943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005072"/>
            <a:ext cx="548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1432B"/>
                </a:solidFill>
                <a:latin typeface="Courier New"/>
              </a:rP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005072"/>
            <a:ext cx="29260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D17"/>
                </a:solidFill>
                <a:latin typeface="Courier New"/>
              </a:rPr>
              <a:t>/api/applications/{id}/run-pipeline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4005072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C5A52"/>
                </a:solidFill>
                <a:latin typeface="Calibri"/>
              </a:rPr>
              <a:t>Run full AI 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9120"/>
            <a:ext cx="5943600" cy="402336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425696"/>
            <a:ext cx="548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1432B"/>
                </a:solidFill>
                <a:latin typeface="Courier New"/>
              </a:rPr>
              <a:t>POST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425696"/>
            <a:ext cx="29260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D17"/>
                </a:solidFill>
                <a:latin typeface="Courier New"/>
              </a:rPr>
              <a:t>/api/applications/{id}/regenerate/{section}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425696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C5A52"/>
                </a:solidFill>
                <a:latin typeface="Calibri"/>
              </a:rPr>
              <a:t>Regenerate one 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09744"/>
            <a:ext cx="5943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846320"/>
            <a:ext cx="548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3D6B4F"/>
                </a:solidFill>
                <a:latin typeface="Courier New"/>
              </a:rP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846320"/>
            <a:ext cx="29260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D17"/>
                </a:solidFill>
                <a:latin typeface="Courier New"/>
              </a:rPr>
              <a:t>/api/applications/{id}/drafts/latest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846320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C5A52"/>
                </a:solidFill>
                <a:latin typeface="Calibri"/>
              </a:rPr>
              <a:t>Fetch latest draft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30368"/>
            <a:ext cx="5943600" cy="402336"/>
          </a:xfrm>
          <a:prstGeom prst="rect">
            <a:avLst/>
          </a:prstGeom>
          <a:solidFill>
            <a:srgbClr val="F7F4ED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266944"/>
            <a:ext cx="548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3D6B4F"/>
                </a:solidFill>
                <a:latin typeface="Courier New"/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266944"/>
            <a:ext cx="29260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D17"/>
                </a:solidFill>
                <a:latin typeface="Courier New"/>
              </a:rPr>
              <a:t>…/download/cover-letter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5266944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C5A52"/>
                </a:solidFill>
                <a:latin typeface="Calibri"/>
              </a:rPr>
              <a:t>.docx cover letter download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650992"/>
            <a:ext cx="5943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687568"/>
            <a:ext cx="54864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1432B"/>
                </a:solidFill>
                <a:latin typeface="Courier New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5687568"/>
            <a:ext cx="29260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1A1D17"/>
                </a:solidFill>
                <a:latin typeface="Courier New"/>
              </a:rPr>
              <a:t>/api/scrape-jd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5687568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5C5A52"/>
                </a:solidFill>
                <a:latin typeface="Calibri"/>
              </a:rPr>
              <a:t>Auto-extract job description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1874519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1D17"/>
                </a:solidFill>
                <a:latin typeface="Calibri"/>
              </a:rPr>
              <a:t>Data Model (SQLAlchemy)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2286000"/>
            <a:ext cx="50292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58000" y="2286000"/>
            <a:ext cx="5029200" cy="36576"/>
          </a:xfrm>
          <a:prstGeom prst="rect">
            <a:avLst/>
          </a:prstGeom>
          <a:solidFill>
            <a:srgbClr val="1A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5160" y="2340864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D17"/>
                </a:solidFill>
                <a:latin typeface="Courier New"/>
              </a:rPr>
              <a:t>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2615184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5C5A52"/>
                </a:solidFill>
                <a:latin typeface="Courier New"/>
              </a:rPr>
              <a:t>id, email, full_name, hashed_password, created_at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0" y="3017520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58000" y="3017520"/>
            <a:ext cx="5029200" cy="36576"/>
          </a:xfrm>
          <a:prstGeom prst="rect">
            <a:avLst/>
          </a:prstGeom>
          <a:solidFill>
            <a:srgbClr val="1A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95160" y="3072384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D17"/>
                </a:solidFill>
                <a:latin typeface="Courier New"/>
              </a:rPr>
              <a:t>Application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3346704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5C5A52"/>
                </a:solidFill>
                <a:latin typeface="Courier New"/>
              </a:rPr>
              <a:t>id, user_id, job_title, company, jd_text, status,
pipeline_status (pending / running / done / failed)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3931920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58000" y="3931920"/>
            <a:ext cx="5029200" cy="36576"/>
          </a:xfrm>
          <a:prstGeom prst="rect">
            <a:avLst/>
          </a:prstGeom>
          <a:solidFill>
            <a:srgbClr val="1A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95160" y="3986784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D17"/>
                </a:solidFill>
                <a:latin typeface="Courier New"/>
              </a:rPr>
              <a:t>Draft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95160" y="4261104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5C5A52"/>
                </a:solidFill>
                <a:latin typeface="Courier New"/>
              </a:rPr>
              <a:t>id, application_id, fit_analysis (JSON), resume_rewrite,
cover_letter, interview_qa (JSON), ats_score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4846320"/>
            <a:ext cx="50292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0" y="4846320"/>
            <a:ext cx="5029200" cy="36576"/>
          </a:xfrm>
          <a:prstGeom prst="rect">
            <a:avLst/>
          </a:prstGeom>
          <a:solidFill>
            <a:srgbClr val="1A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95160" y="4901184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D17"/>
                </a:solidFill>
                <a:latin typeface="Courier New"/>
              </a:rPr>
              <a:t>ResumeSection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0" y="5175504"/>
            <a:ext cx="4754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 i="0">
                <a:solidFill>
                  <a:srgbClr val="5C5A52"/>
                </a:solidFill>
                <a:latin typeface="Courier New"/>
              </a:rPr>
              <a:t>id, draft_id, section_name,
original_text, rewritten_text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B0AC9F"/>
                </a:solidFill>
                <a:latin typeface="Courier New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5C5A52"/>
                </a:solidFill>
                <a:latin typeface="Courier New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0" i="0">
                <a:solidFill>
                  <a:srgbClr val="F7F4ED"/>
                </a:solidFill>
                <a:latin typeface="Georgia"/>
              </a:rPr>
              <a:t>Next Steps &amp;
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11064240" cy="1905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3383280" cy="50292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7F4ED"/>
                </a:solidFill>
                <a:latin typeface="Calibri"/>
              </a:rPr>
              <a:t>Immediate  ·  v1.0 Polish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63240"/>
            <a:ext cx="3383280" cy="566928"/>
          </a:xfrm>
          <a:prstGeom prst="rect">
            <a:avLst/>
          </a:prstGeom>
          <a:solidFill>
            <a:srgbClr val="1E1B14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PostgreSQL migration (replace SQLite)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657600"/>
            <a:ext cx="3383280" cy="566928"/>
          </a:xfrm>
          <a:prstGeom prst="rect">
            <a:avLst/>
          </a:prstGeom>
          <a:solidFill>
            <a:srgbClr val="252219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3075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Background task queue — Celery + 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51960"/>
            <a:ext cx="3383280" cy="566928"/>
          </a:xfrm>
          <a:prstGeom prst="rect">
            <a:avLst/>
          </a:prstGeom>
          <a:solidFill>
            <a:srgbClr val="1E1B14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2511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Rate limiting + production CORS config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846320"/>
            <a:ext cx="3383280" cy="566928"/>
          </a:xfrm>
          <a:prstGeom prst="rect">
            <a:avLst/>
          </a:prstGeom>
          <a:solidFill>
            <a:srgbClr val="252219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1947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Unit tests for all 4 agents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440680"/>
            <a:ext cx="3383280" cy="566928"/>
          </a:xfrm>
          <a:prstGeom prst="rect">
            <a:avLst/>
          </a:prstGeom>
          <a:solidFill>
            <a:srgbClr val="1E1B14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51383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PDF resume diff overlay 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2514600"/>
            <a:ext cx="3383280" cy="50292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2560320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7F4ED"/>
                </a:solidFill>
                <a:latin typeface="Calibri"/>
              </a:rPr>
              <a:t>Short-term  ·  v1.5 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3063240"/>
            <a:ext cx="3383280" cy="566928"/>
          </a:xfrm>
          <a:prstGeom prst="rect">
            <a:avLst/>
          </a:prstGeom>
          <a:solidFill>
            <a:srgbClr val="1E1B14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13639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LinkedIn OAuth login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3657600"/>
            <a:ext cx="3383280" cy="566928"/>
          </a:xfrm>
          <a:prstGeom prst="rect">
            <a:avLst/>
          </a:prstGeom>
          <a:solidFill>
            <a:srgbClr val="252219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73075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Application email tracking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80" y="4251960"/>
            <a:ext cx="3383280" cy="566928"/>
          </a:xfrm>
          <a:prstGeom prst="rect">
            <a:avLst/>
          </a:prstGeom>
          <a:solidFill>
            <a:srgbClr val="1E1B14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432511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AI match score trend analytics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4846320"/>
            <a:ext cx="3383280" cy="566928"/>
          </a:xfrm>
          <a:prstGeom prst="rect">
            <a:avLst/>
          </a:prstGeom>
          <a:solidFill>
            <a:srgbClr val="252219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491947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Browser extension for 1-click JD capture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5440680"/>
            <a:ext cx="3383280" cy="566928"/>
          </a:xfrm>
          <a:prstGeom prst="rect">
            <a:avLst/>
          </a:prstGeom>
          <a:solidFill>
            <a:srgbClr val="1E1B14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551383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Team / recruiter accounts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2514600"/>
            <a:ext cx="3383280" cy="502920"/>
          </a:xfrm>
          <a:prstGeom prst="rect">
            <a:avLst/>
          </a:prstGeom>
          <a:solidFill>
            <a:srgbClr val="C14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2560320"/>
            <a:ext cx="3200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7F4ED"/>
                </a:solidFill>
                <a:latin typeface="Calibri"/>
              </a:rPr>
              <a:t>Long-term  ·  v2.0 Platform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3063240"/>
            <a:ext cx="3383280" cy="566928"/>
          </a:xfrm>
          <a:prstGeom prst="rect">
            <a:avLst/>
          </a:prstGeom>
          <a:solidFill>
            <a:srgbClr val="1E1B14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13639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Salary negotiation agent (Agent 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657600"/>
            <a:ext cx="3383280" cy="566928"/>
          </a:xfrm>
          <a:prstGeom prst="rect">
            <a:avLst/>
          </a:prstGeom>
          <a:solidFill>
            <a:srgbClr val="252219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373075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Company research &amp; culture fit scoring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35240" y="4251960"/>
            <a:ext cx="3383280" cy="566928"/>
          </a:xfrm>
          <a:prstGeom prst="rect">
            <a:avLst/>
          </a:prstGeom>
          <a:solidFill>
            <a:srgbClr val="1E1B14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32511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Multi-language resume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4846320"/>
            <a:ext cx="3383280" cy="566928"/>
          </a:xfrm>
          <a:prstGeom prst="rect">
            <a:avLst/>
          </a:prstGeom>
          <a:solidFill>
            <a:srgbClr val="252219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491947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Real-time collaborative editing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5440680"/>
            <a:ext cx="3383280" cy="566928"/>
          </a:xfrm>
          <a:prstGeom prst="rect">
            <a:avLst/>
          </a:prstGeom>
          <a:solidFill>
            <a:srgbClr val="1E1B14"/>
          </a:solidFill>
          <a:ln w="9525">
            <a:solidFill>
              <a:srgbClr val="2C2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5513832"/>
            <a:ext cx="32004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9A958A"/>
                </a:solidFill>
                <a:latin typeface="Calibri"/>
              </a:rPr>
              <a:t>·  SaaS billing — Stripe integration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00800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50" b="0" i="0">
                <a:solidFill>
                  <a:srgbClr val="6B665C"/>
                </a:solidFill>
                <a:latin typeface="Courier New"/>
              </a:rPr>
              <a:t>Built on FastAPI + Groq + Vanilla Frontend  ·  github.com/margin-app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9224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B0AC9F"/>
                </a:solidFill>
                <a:latin typeface="Courier New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